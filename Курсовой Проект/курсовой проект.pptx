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271" r:id="rId13"/>
    <p:sldId id="270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72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437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6D2481-21B8-1B5B-CF8F-8A0B9CEDB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1B176E-5A68-0231-00F6-1CBE42D2F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013B8F-5A9B-F9C3-AC17-291D3BDF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2A32-8141-417F-801B-10F8CB3086A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DBE60A-E2BA-132B-B0C6-3D60077D0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CA10BD-FDA5-57D0-144C-AF6F95E2B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447D-6D91-45A0-B8A6-952B1AEE5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0462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1D8E9-295B-8241-4219-CE3F6426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78247B-391F-F02A-30EA-1D04D3AB4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E3BE51-21DA-2392-3F5F-BF26EE1BC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2A32-8141-417F-801B-10F8CB3086A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DD6920-B710-618E-BF19-4399149B7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F7CE9F-8E03-88AA-6F35-59FC71F43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447D-6D91-45A0-B8A6-952B1AEE5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25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CFF26D-F645-82F1-2AB1-37EDB3A12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E338D8-8FD3-7AA7-0224-8D2AE4CC6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CFEA5B-8CAD-7168-CF3E-B227646FE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2A32-8141-417F-801B-10F8CB3086A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D59A4A-B1A9-032A-4776-D3C6E787E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19E959-8B86-682A-EF1C-2F8628700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447D-6D91-45A0-B8A6-952B1AEE5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85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DB1FBB-F81B-2F04-CD1F-5AB8ABC19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5CA4DB-AC2C-A8A2-665C-8F0209BC60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896DCE-C8C8-6419-F030-D22C40747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26CAAB-6DFE-FB3A-CB25-E3BB73B97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2A32-8141-417F-801B-10F8CB3086A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2FAA4B-F25B-739D-5392-1439FE6A1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ED8A1C-F59B-9DD0-EB89-A2951FD6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447D-6D91-45A0-B8A6-952B1AEE5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3652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D1C490-1AB1-4845-B880-79332C84F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2F7579-366D-B416-9299-C7BE3D694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513D5A-99DE-12CE-AF3D-DB7FEA64A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40BADA-3F12-0170-D57A-904EC8D07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5707B1D-0620-FB33-8A53-F426BEC8E9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98D9DF5-98A2-1242-BF7E-CFF2EB8D6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2A32-8141-417F-801B-10F8CB3086A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23BD37D-7CA0-0442-A46F-4F5E2FB7B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FCEEF43-515C-9F3B-8742-F18A7EDA5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447D-6D91-45A0-B8A6-952B1AEE5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610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F3BF5-91E9-0022-BE26-D3A105C65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71E82B3-6EAA-DE71-D44A-A6C80E4E0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2A32-8141-417F-801B-10F8CB3086A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0C8C2F-D2FD-535F-9D76-41666281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9A21BD6-6F36-522C-E9BE-A829850C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447D-6D91-45A0-B8A6-952B1AEE5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4882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192B608-65EB-C229-8347-ACEB006F3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2A32-8141-417F-801B-10F8CB3086A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B37ADB9-CEF7-3656-2605-1033D13F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F392B9-06E5-DC48-BA18-73252C515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447D-6D91-45A0-B8A6-952B1AEE5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9945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06EBB1-E2D2-A7B3-12C3-FC9F0B8AA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5E5412-8E80-4A66-54C4-9602D9278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7FBCA3-2F7F-92F4-B3A2-579D6EFC4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6B11F-A305-C24A-43A8-69ACCB38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2A32-8141-417F-801B-10F8CB3086A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56EDF8-6DCA-D64F-2C5F-5EE476077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42F7E6-6F6D-F76A-47B3-DCB79A30C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447D-6D91-45A0-B8A6-952B1AEE5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33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172BF3-17DB-819A-3F3D-52D030709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770A417-DA7C-45AE-C97B-7C5CCF5B4F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13B9339-D056-4326-D217-3DAB877AD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B7C73C-195B-0217-B8BD-3BD4A892A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2A32-8141-417F-801B-10F8CB3086A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AD126D-E0F3-9BD5-C921-09055E3F8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F4B9BE-4AF7-901C-F77A-2FBB6E34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447D-6D91-45A0-B8A6-952B1AEE5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794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00429D-6124-AF09-739B-222A6B832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DA877B8-E55A-5004-4CFA-AF5F0BA2D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D2CAE1-C769-C48F-3D6D-9DCF1873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2A32-8141-417F-801B-10F8CB3086A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713655-FB80-4740-9F84-BEFC9002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415E8B-F600-1AA8-5CA1-C652BFFE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447D-6D91-45A0-B8A6-952B1AEE5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280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C95547-04BF-8421-28CA-7478D3E6C2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BDC28FA-68AA-E2BB-9393-EA5E37DBD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A3ABE8-BF9E-8080-A96A-8430EB9AE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2A32-8141-417F-801B-10F8CB3086A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C3E7B-3D29-87F5-DC89-B2592BDC3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28CE40-73DA-E76C-B7E4-3635D13DC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2447D-6D91-45A0-B8A6-952B1AEE5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390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558A8A-CFD1-1A69-2382-3B3FBAECA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AFB6BD-C960-C378-FCAF-FF1D6F6B0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849FE5-8F59-24B4-01BC-DD92693BA2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02A32-8141-417F-801B-10F8CB3086A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70709F-BE3A-38D1-DFAE-0661390A8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E22E48-EF8C-8D0C-65C4-3F073D97F5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2447D-6D91-45A0-B8A6-952B1AEE5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52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0EB0A9-50B2-1DD9-EE74-F27F17C50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1975"/>
            <a:ext cx="9144000" cy="2941260"/>
          </a:xfrm>
        </p:spPr>
        <p:txBody>
          <a:bodyPr>
            <a:noAutofit/>
          </a:bodyPr>
          <a:lstStyle/>
          <a:p>
            <a:pPr marL="902969" marR="897255">
              <a:lnSpc>
                <a:spcPct val="137500"/>
              </a:lnSpc>
              <a:spcBef>
                <a:spcPts val="95"/>
              </a:spcBef>
            </a:pPr>
            <a:r>
              <a:rPr lang="ru-RU" sz="2000" spc="-10" dirty="0">
                <a:latin typeface="Times New Roman"/>
                <a:cs typeface="Times New Roman"/>
              </a:rPr>
              <a:t>ДЕПАРТАМЕНТ</a:t>
            </a:r>
            <a:r>
              <a:rPr lang="ru-RU" sz="2000" spc="-5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ОБРАЗОВАНИЯ</a:t>
            </a:r>
            <a:r>
              <a:rPr lang="ru-RU" sz="2000" spc="-1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И</a:t>
            </a:r>
            <a:r>
              <a:rPr lang="ru-RU" sz="2000" spc="-30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НАУКИ </a:t>
            </a:r>
            <a:r>
              <a:rPr lang="ru-RU" sz="2000" dirty="0">
                <a:latin typeface="Times New Roman"/>
                <a:cs typeface="Times New Roman"/>
              </a:rPr>
              <a:t>ТЮМЕНСКОЙ</a:t>
            </a:r>
            <a:r>
              <a:rPr lang="ru-RU" sz="2000" spc="-65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ОБЛАСТИ</a:t>
            </a:r>
            <a:br>
              <a:rPr lang="ru-RU" sz="2000" dirty="0">
                <a:latin typeface="Times New Roman"/>
                <a:cs typeface="Times New Roman"/>
              </a:rPr>
            </a:br>
            <a:r>
              <a:rPr lang="ru-RU" sz="2000" dirty="0">
                <a:latin typeface="Times New Roman"/>
                <a:cs typeface="Times New Roman"/>
              </a:rPr>
              <a:t>Государственное</a:t>
            </a:r>
            <a:r>
              <a:rPr lang="ru-RU" sz="2000" spc="-9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автономное</a:t>
            </a:r>
            <a:r>
              <a:rPr lang="ru-RU" sz="2000" spc="-9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профессиональное</a:t>
            </a:r>
            <a:r>
              <a:rPr lang="ru-RU" sz="2000" spc="-90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учреждение </a:t>
            </a:r>
            <a:r>
              <a:rPr lang="ru-RU" sz="2000" dirty="0">
                <a:latin typeface="Times New Roman"/>
                <a:cs typeface="Times New Roman"/>
              </a:rPr>
              <a:t>Тюменской</a:t>
            </a:r>
            <a:r>
              <a:rPr lang="ru-RU" sz="2000" spc="-85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области</a:t>
            </a:r>
            <a:br>
              <a:rPr lang="ru-RU" sz="2000" dirty="0">
                <a:latin typeface="Times New Roman"/>
                <a:cs typeface="Times New Roman"/>
              </a:rPr>
            </a:br>
            <a:r>
              <a:rPr lang="ru-RU" sz="2000" dirty="0">
                <a:latin typeface="Times New Roman"/>
                <a:cs typeface="Times New Roman"/>
              </a:rPr>
              <a:t>«ТЮМЕНСКИЙ</a:t>
            </a:r>
            <a:r>
              <a:rPr lang="ru-RU" sz="2000" spc="-6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ТЕХНИКУМ</a:t>
            </a:r>
            <a:r>
              <a:rPr lang="ru-RU" sz="2000" spc="-60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СТРОИТЕЛЬНОЙ</a:t>
            </a:r>
            <a:r>
              <a:rPr lang="ru-RU" sz="2000" spc="-5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ИНДУСТРИИ</a:t>
            </a:r>
            <a:r>
              <a:rPr lang="ru-RU" sz="2000" spc="-55" dirty="0">
                <a:latin typeface="Times New Roman"/>
                <a:cs typeface="Times New Roman"/>
              </a:rPr>
              <a:t> </a:t>
            </a:r>
            <a:r>
              <a:rPr lang="ru-RU" sz="2000" spc="-50" dirty="0">
                <a:latin typeface="Times New Roman"/>
                <a:cs typeface="Times New Roman"/>
              </a:rPr>
              <a:t>И </a:t>
            </a:r>
            <a:r>
              <a:rPr lang="ru-RU" sz="2000" dirty="0">
                <a:latin typeface="Times New Roman"/>
                <a:cs typeface="Times New Roman"/>
              </a:rPr>
              <a:t>ГОРОДСКОГО</a:t>
            </a:r>
            <a:r>
              <a:rPr lang="ru-RU" sz="2000" spc="-55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ХОЗЯЙСТВА»</a:t>
            </a:r>
            <a:br>
              <a:rPr lang="ru-RU" sz="2000" dirty="0">
                <a:latin typeface="Times New Roman"/>
                <a:cs typeface="Times New Roman"/>
              </a:rPr>
            </a:br>
            <a:endParaRPr lang="ru-RU" sz="2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0DB967-57F3-AA87-3079-4C07D298B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17096"/>
          </a:xfrm>
        </p:spPr>
        <p:txBody>
          <a:bodyPr/>
          <a:lstStyle/>
          <a:p>
            <a:r>
              <a:rPr lang="ru-RU" dirty="0">
                <a:latin typeface="Times New Roman"/>
                <a:cs typeface="Times New Roman"/>
              </a:rPr>
              <a:t>Курсовой</a:t>
            </a:r>
            <a:r>
              <a:rPr lang="ru-RU" spc="-20" dirty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проект</a:t>
            </a:r>
            <a:r>
              <a:rPr lang="ru-RU" spc="-20" dirty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на</a:t>
            </a:r>
            <a:r>
              <a:rPr lang="ru-RU" spc="-30" dirty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тему 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«Проектирование ИС «Поставщики»»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F25E8-14F4-1846-AC9B-30ACA3FDE84E}"/>
              </a:ext>
            </a:extLst>
          </p:cNvPr>
          <p:cNvSpPr txBox="1"/>
          <p:nvPr/>
        </p:nvSpPr>
        <p:spPr>
          <a:xfrm>
            <a:off x="7946408" y="4695894"/>
            <a:ext cx="4245592" cy="1403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95700"/>
              </a:lnSpc>
              <a:spcBef>
                <a:spcPts val="190"/>
              </a:spcBef>
              <a:tabLst>
                <a:tab pos="899160" algn="l"/>
                <a:tab pos="1176020" algn="l"/>
                <a:tab pos="1830705" algn="l"/>
              </a:tabLst>
            </a:pPr>
            <a:r>
              <a:rPr lang="ru-RU" sz="1800" dirty="0">
                <a:latin typeface="Times New Roman"/>
                <a:cs typeface="Times New Roman"/>
              </a:rPr>
              <a:t>Выполнил: </a:t>
            </a:r>
            <a:r>
              <a:rPr lang="ru-RU" dirty="0" err="1">
                <a:latin typeface="Times New Roman"/>
                <a:cs typeface="Times New Roman"/>
              </a:rPr>
              <a:t>Щёгалев</a:t>
            </a:r>
            <a:r>
              <a:rPr lang="ru-RU" sz="1800" dirty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С</a:t>
            </a:r>
            <a:r>
              <a:rPr lang="ru-RU" sz="1800" spc="-10" dirty="0">
                <a:latin typeface="Times New Roman"/>
                <a:cs typeface="Times New Roman"/>
              </a:rPr>
              <a:t>.В</a:t>
            </a:r>
            <a:r>
              <a:rPr lang="ru-RU" spc="-10" dirty="0">
                <a:latin typeface="Times New Roman"/>
                <a:cs typeface="Times New Roman"/>
              </a:rPr>
              <a:t>.</a:t>
            </a:r>
            <a:r>
              <a:rPr lang="ru-RU" sz="1800" spc="-10" dirty="0">
                <a:latin typeface="Times New Roman"/>
                <a:cs typeface="Times New Roman"/>
              </a:rPr>
              <a:t>,</a:t>
            </a:r>
            <a:endParaRPr lang="ru-RU" spc="-10" dirty="0">
              <a:latin typeface="Times New Roman"/>
              <a:cs typeface="Times New Roman"/>
            </a:endParaRPr>
          </a:p>
          <a:p>
            <a:pPr marL="12700" marR="5080">
              <a:lnSpc>
                <a:spcPct val="95700"/>
              </a:lnSpc>
              <a:spcBef>
                <a:spcPts val="190"/>
              </a:spcBef>
              <a:tabLst>
                <a:tab pos="899160" algn="l"/>
                <a:tab pos="1176020" algn="l"/>
                <a:tab pos="1830705" algn="l"/>
              </a:tabLst>
            </a:pPr>
            <a:r>
              <a:rPr lang="ru-RU" sz="1800" spc="-10" dirty="0">
                <a:latin typeface="Times New Roman"/>
                <a:cs typeface="Times New Roman"/>
              </a:rPr>
              <a:t>Студент</a:t>
            </a:r>
            <a:r>
              <a:rPr lang="ru-RU" sz="1800" dirty="0">
                <a:latin typeface="Times New Roman"/>
                <a:cs typeface="Times New Roman"/>
              </a:rPr>
              <a:t>	</a:t>
            </a:r>
            <a:r>
              <a:rPr lang="ru-RU" sz="1800" spc="-50" dirty="0">
                <a:latin typeface="Times New Roman"/>
                <a:cs typeface="Times New Roman"/>
              </a:rPr>
              <a:t>2</a:t>
            </a:r>
            <a:r>
              <a:rPr lang="ru-RU" sz="1800" dirty="0">
                <a:latin typeface="Times New Roman"/>
                <a:cs typeface="Times New Roman"/>
              </a:rPr>
              <a:t>	</a:t>
            </a:r>
            <a:r>
              <a:rPr lang="ru-RU" sz="1800" spc="-20" dirty="0">
                <a:latin typeface="Times New Roman"/>
                <a:cs typeface="Times New Roman"/>
              </a:rPr>
              <a:t>курса</a:t>
            </a:r>
            <a:r>
              <a:rPr lang="ru-RU" sz="1800" dirty="0">
                <a:latin typeface="Times New Roman"/>
                <a:cs typeface="Times New Roman"/>
              </a:rPr>
              <a:t>	</a:t>
            </a:r>
            <a:r>
              <a:rPr lang="ru-RU" sz="1800" spc="-20" dirty="0">
                <a:latin typeface="Times New Roman"/>
                <a:cs typeface="Times New Roman"/>
              </a:rPr>
              <a:t>очной </a:t>
            </a:r>
            <a:r>
              <a:rPr lang="ru-RU" sz="1800" dirty="0">
                <a:latin typeface="Times New Roman"/>
                <a:cs typeface="Times New Roman"/>
              </a:rPr>
              <a:t>формы</a:t>
            </a:r>
            <a:r>
              <a:rPr lang="ru-RU" sz="1800" spc="-25" dirty="0">
                <a:latin typeface="Times New Roman"/>
                <a:cs typeface="Times New Roman"/>
              </a:rPr>
              <a:t> </a:t>
            </a:r>
            <a:r>
              <a:rPr lang="ru-RU" sz="1800" spc="-10" dirty="0">
                <a:latin typeface="Times New Roman"/>
                <a:cs typeface="Times New Roman"/>
              </a:rPr>
              <a:t>обучения,</a:t>
            </a:r>
            <a:endParaRPr lang="ru-RU" sz="1800" dirty="0">
              <a:latin typeface="Times New Roman"/>
              <a:cs typeface="Times New Roman"/>
            </a:endParaRPr>
          </a:p>
          <a:p>
            <a:pPr marL="12700" marR="488315">
              <a:lnSpc>
                <a:spcPts val="1820"/>
              </a:lnSpc>
              <a:spcBef>
                <a:spcPts val="70"/>
              </a:spcBef>
            </a:pPr>
            <a:r>
              <a:rPr lang="ru-RU" sz="1800" dirty="0">
                <a:latin typeface="Times New Roman"/>
                <a:cs typeface="Times New Roman"/>
              </a:rPr>
              <a:t>Группы</a:t>
            </a:r>
            <a:r>
              <a:rPr lang="ru-RU" sz="1800" spc="-25" dirty="0">
                <a:latin typeface="Times New Roman"/>
                <a:cs typeface="Times New Roman"/>
              </a:rPr>
              <a:t> </a:t>
            </a:r>
            <a:r>
              <a:rPr lang="ru-RU" sz="1800" dirty="0" err="1">
                <a:latin typeface="Times New Roman"/>
                <a:cs typeface="Times New Roman"/>
              </a:rPr>
              <a:t>ИСиП</a:t>
            </a:r>
            <a:r>
              <a:rPr lang="ru-RU" sz="1800" spc="-50" dirty="0">
                <a:latin typeface="Times New Roman"/>
                <a:cs typeface="Times New Roman"/>
              </a:rPr>
              <a:t> </a:t>
            </a:r>
            <a:r>
              <a:rPr lang="ru-RU" sz="1800" spc="-10" dirty="0">
                <a:latin typeface="Times New Roman"/>
                <a:cs typeface="Times New Roman"/>
              </a:rPr>
              <a:t>24-9-</a:t>
            </a:r>
            <a:r>
              <a:rPr lang="ru-RU" spc="-50" dirty="0">
                <a:latin typeface="Times New Roman"/>
                <a:cs typeface="Times New Roman"/>
              </a:rPr>
              <a:t>2</a:t>
            </a:r>
            <a:endParaRPr lang="ru-RU" sz="1800" spc="-50" dirty="0">
              <a:latin typeface="Times New Roman"/>
              <a:cs typeface="Times New Roman"/>
            </a:endParaRPr>
          </a:p>
          <a:p>
            <a:pPr marL="12700" marR="488315">
              <a:lnSpc>
                <a:spcPts val="1820"/>
              </a:lnSpc>
              <a:spcBef>
                <a:spcPts val="70"/>
              </a:spcBef>
            </a:pPr>
            <a:r>
              <a:rPr lang="ru-RU" sz="1800" spc="-10" dirty="0">
                <a:latin typeface="Times New Roman"/>
                <a:cs typeface="Times New Roman"/>
              </a:rPr>
              <a:t>Проверила:</a:t>
            </a:r>
            <a:endParaRPr lang="ru-RU" sz="1800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6AF6AB-F287-0905-7ED1-FEE3D5D38414}"/>
              </a:ext>
            </a:extLst>
          </p:cNvPr>
          <p:cNvSpPr txBox="1"/>
          <p:nvPr/>
        </p:nvSpPr>
        <p:spPr>
          <a:xfrm>
            <a:off x="5170228" y="6488668"/>
            <a:ext cx="1664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1800" dirty="0">
                <a:latin typeface="Times New Roman"/>
                <a:cs typeface="Times New Roman"/>
              </a:rPr>
              <a:t>Тюмень</a:t>
            </a:r>
            <a:r>
              <a:rPr lang="ru-RU" sz="1800" spc="-60" dirty="0">
                <a:latin typeface="Times New Roman"/>
                <a:cs typeface="Times New Roman"/>
              </a:rPr>
              <a:t> </a:t>
            </a:r>
            <a:r>
              <a:rPr lang="ru-RU" sz="1800" spc="-20" dirty="0">
                <a:latin typeface="Times New Roman"/>
                <a:cs typeface="Times New Roman"/>
              </a:rPr>
              <a:t>2026</a:t>
            </a:r>
            <a:endParaRPr lang="ru-RU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3005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E5B56-07E8-5740-3495-1FFC565A3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b="1" dirty="0">
                <a:solidFill>
                  <a:srgbClr val="0E1115"/>
                </a:solidFill>
                <a:latin typeface="Times New Roman"/>
                <a:cs typeface="Times New Roman"/>
              </a:rPr>
              <a:t>ОПИСАНИЕ</a:t>
            </a:r>
            <a:r>
              <a:rPr lang="ru-RU" sz="2800" b="1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800" b="1" dirty="0">
                <a:solidFill>
                  <a:srgbClr val="0E1115"/>
                </a:solidFill>
                <a:latin typeface="Times New Roman"/>
                <a:cs typeface="Times New Roman"/>
              </a:rPr>
              <a:t>ПРЕДМЕТНОЙ</a:t>
            </a:r>
            <a:r>
              <a:rPr lang="ru-RU" sz="2800" b="1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lang="ru-RU" sz="2800" b="1" spc="-10" dirty="0">
                <a:solidFill>
                  <a:srgbClr val="0E1115"/>
                </a:solidFill>
                <a:latin typeface="Times New Roman"/>
                <a:cs typeface="Times New Roman"/>
              </a:rPr>
              <a:t>ОБЛАСТИ</a:t>
            </a:r>
            <a:br>
              <a:rPr lang="ru-RU" dirty="0">
                <a:latin typeface="Times New Roman"/>
                <a:cs typeface="Times New Roman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1B36AF-60EA-7D8C-5556-416A9573D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564" y="1839273"/>
            <a:ext cx="10613820" cy="4429552"/>
          </a:xfrm>
        </p:spPr>
        <p:txBody>
          <a:bodyPr>
            <a:normAutofit fontScale="92500"/>
          </a:bodyPr>
          <a:lstStyle/>
          <a:p>
            <a:pPr indent="0">
              <a:lnSpc>
                <a:spcPct val="150000"/>
              </a:lnSpc>
              <a:buNone/>
            </a:pPr>
            <a:r>
              <a:rPr lang="ru-RU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Предметная область (ПО) представляет собой фрагмент реального мира, который исследуется для последующего управления и автоматизации. В данном случае предметная область — это процессы материально-технического снабжения предприятия и взаимодействия с контрагентами. ИС «Поставщики» служит специализированной платформой для учета поступающих товаров, мониторинга цен, ведения реестра надежных поставщиков и контроля складских остатков. Главная задача системы заключается в автоматизации документооборота и мониторинга цепочек поставок.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ru-RU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Основные бизнес-процессы системы включают управление поставками, быстрый доступ документов и удобный поиск, выбор оптимального поставщика и формирование заказов. Складской учет охватывает приемку продукции, проверку соответствия накладным и фиксацию перемещений. Взаиморасчеты и аналитика включают контроль оплат, сверку задолженностей и оценку эффективности работы.</a:t>
            </a:r>
          </a:p>
          <a:p>
            <a:endParaRPr lang="ru-RU" sz="1900" dirty="0"/>
          </a:p>
        </p:txBody>
      </p:sp>
    </p:spTree>
    <p:extLst>
      <p:ext uri="{BB962C8B-B14F-4D97-AF65-F5344CB8AC3E}">
        <p14:creationId xmlns:p14="http://schemas.microsoft.com/office/powerpoint/2010/main" val="1274091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6CEE2-1CDD-9D66-A0CC-FA93784DA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1114140" y="762000"/>
            <a:ext cx="9575044" cy="1123950"/>
          </a:xfrm>
        </p:spPr>
        <p:txBody>
          <a:bodyPr>
            <a:no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 курсового проекта – проектирование информационной системы «Поставщики», которая обеспечит автоматизацию процессов взаимодействия с контрагентами, систематизирует складской учет и повысит точность аналитических данных на предприятии.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599E6B-45AC-077B-7E67-2B34ACBC8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664" y="2506662"/>
            <a:ext cx="10915935" cy="420846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ru-RU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SzPts val="1000"/>
              <a:buNone/>
              <a:tabLst>
                <a:tab pos="457200" algn="l"/>
              </a:tabLst>
            </a:pPr>
            <a:r>
              <a:rPr lang="ru-RU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Проанализировать предметную область, изучить бизнес-процессы отдела закупок, поставщиков, бухгалтерии и склада, выявить основные потребности персонала в автоматизации.</a:t>
            </a:r>
          </a:p>
          <a:p>
            <a:pPr marL="0" lvl="0" indent="0" algn="just">
              <a:lnSpc>
                <a:spcPct val="150000"/>
              </a:lnSpc>
              <a:buSzPts val="1000"/>
              <a:buNone/>
              <a:tabLst>
                <a:tab pos="457200" algn="l"/>
              </a:tabLst>
            </a:pPr>
            <a:r>
              <a:rPr lang="ru-RU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Провести анализ аналогичных систем учета, выявить их преимущества и недостатки.</a:t>
            </a:r>
          </a:p>
          <a:p>
            <a:pPr marL="0" lvl="0" indent="0" algn="just">
              <a:lnSpc>
                <a:spcPct val="150000"/>
              </a:lnSpc>
              <a:buSzPts val="1000"/>
              <a:buNone/>
              <a:tabLst>
                <a:tab pos="457200" algn="l"/>
              </a:tabLst>
            </a:pPr>
            <a:r>
              <a:rPr lang="ru-RU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Спроектировать структуру информационной системы, разработать UML-диаграммы (</a:t>
            </a:r>
            <a:r>
              <a:rPr lang="en-US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Class Diagram</a:t>
            </a:r>
            <a:r>
              <a:rPr lang="ru-RU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ER</a:t>
            </a:r>
            <a:r>
              <a:rPr lang="ru-RU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DFD</a:t>
            </a:r>
            <a:r>
              <a:rPr lang="ru-RU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для визуализации процессов взаимодействия с поставщиками</a:t>
            </a:r>
          </a:p>
          <a:p>
            <a:pPr marL="0" lvl="0" indent="0" algn="just">
              <a:lnSpc>
                <a:spcPct val="150000"/>
              </a:lnSpc>
              <a:buSzPts val="1000"/>
              <a:buNone/>
              <a:tabLst>
                <a:tab pos="457200" algn="l"/>
              </a:tabLst>
            </a:pPr>
            <a:r>
              <a:rPr lang="ru-RU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Спроектировать физическую модель базы данных</a:t>
            </a:r>
          </a:p>
          <a:p>
            <a:pPr marL="0" lvl="0" indent="0" algn="just">
              <a:lnSpc>
                <a:spcPct val="150000"/>
              </a:lnSpc>
              <a:buSzPts val="1000"/>
              <a:buNone/>
              <a:tabLst>
                <a:tab pos="457200" algn="l"/>
              </a:tabLst>
            </a:pPr>
            <a:r>
              <a:rPr lang="ru-RU" sz="4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Разработать пользовательский интерфейс, сочетающий в себе функциональность для разных ролей пользователей и удобство работы.</a:t>
            </a: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b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644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27711E-68DF-C604-FAD6-7A7E8F10E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94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A1410C4-67BA-40A0-B506-556D8086D5B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06" y="1328737"/>
            <a:ext cx="9908913" cy="534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130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66750B-27D4-AA0A-5497-2917D6CDF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4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/>
                <a:cs typeface="Times New Roman"/>
              </a:rPr>
              <a:t>Диаграмма</a:t>
            </a:r>
            <a:r>
              <a:rPr lang="en-US" sz="3600" dirty="0">
                <a:latin typeface="Times New Roman"/>
                <a:cs typeface="Times New Roman"/>
              </a:rPr>
              <a:t> IDEF0 </a:t>
            </a:r>
            <a:r>
              <a:rPr lang="ru-RU" sz="3600" dirty="0">
                <a:latin typeface="Times New Roman"/>
                <a:cs typeface="Times New Roman"/>
              </a:rPr>
              <a:t>декомпозиция </a:t>
            </a:r>
            <a:br>
              <a:rPr lang="ru-RU" sz="3600" dirty="0">
                <a:latin typeface="Times New Roman"/>
                <a:cs typeface="Times New Roman"/>
              </a:rPr>
            </a:br>
            <a:endParaRPr lang="ru-RU" sz="3600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67E0832-64B8-4B98-9597-F4D35A72A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D4C65E-08A7-4B0C-9ACA-9E90291C16D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38187" y="884214"/>
            <a:ext cx="10715625" cy="583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76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D8D8A9-7011-EE42-FCAB-51BD20A5A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контекстная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B3B0BC0-5FFF-4A3C-9CC4-4621C776CC0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073" y="1631900"/>
            <a:ext cx="10839451" cy="35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90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0AD6E4-6F07-08D8-4B09-26C8F74D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5775"/>
            <a:ext cx="10515600" cy="408781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/>
                <a:cs typeface="Times New Roman"/>
              </a:rPr>
              <a:t>Декомпозиция диаграммы </a:t>
            </a:r>
            <a:r>
              <a:rPr lang="en-US" dirty="0">
                <a:latin typeface="Times New Roman"/>
                <a:cs typeface="Times New Roman"/>
              </a:rPr>
              <a:t>DFD</a:t>
            </a:r>
            <a:br>
              <a:rPr lang="en-US" dirty="0">
                <a:latin typeface="Times New Roman"/>
                <a:cs typeface="Times New Roman"/>
              </a:rPr>
            </a:b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CF26769-CE53-4756-BFDC-8F7918000F9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361" y="894556"/>
            <a:ext cx="11267689" cy="575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422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4995F0-2196-997A-773C-C3722C836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/>
                <a:cs typeface="Times New Roman"/>
              </a:rPr>
              <a:t>	</a:t>
            </a:r>
            <a:r>
              <a:rPr lang="ru-RU" sz="4000" dirty="0">
                <a:latin typeface="Times New Roman"/>
                <a:cs typeface="Times New Roman"/>
              </a:rPr>
              <a:t>диаграмма вариантов использования</a:t>
            </a:r>
            <a:br>
              <a:rPr lang="ru-RU" sz="3200" dirty="0">
                <a:latin typeface="Times New Roman"/>
                <a:cs typeface="Times New Roman"/>
              </a:rPr>
            </a:br>
            <a:endParaRPr lang="ru-RU" sz="3200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5FD57CB5-D414-4D30-A8BD-FE09A72BCC3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267" y="1027906"/>
            <a:ext cx="10515600" cy="574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866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E1A6F5-D082-B61C-4559-5A495575C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/>
                <a:cs typeface="Times New Roman"/>
              </a:rPr>
              <a:t>Диаграмма деятельности</a:t>
            </a:r>
            <a:br>
              <a:rPr lang="en-US" sz="3600" dirty="0">
                <a:latin typeface="Times New Roman"/>
                <a:cs typeface="Times New Roman"/>
              </a:rPr>
            </a:br>
            <a:endParaRPr lang="ru-RU" sz="3600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C477045-F825-486E-80A8-7F7B28B97BA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1910" y="798115"/>
            <a:ext cx="8308180" cy="587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131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DFC96B-E577-F80A-F307-4A01775B0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" y="116932"/>
            <a:ext cx="10515600" cy="902244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/>
                <a:cs typeface="Times New Roman"/>
              </a:rPr>
              <a:t>Диаграмма последовательности</a:t>
            </a:r>
            <a:endParaRPr lang="ru-RU" sz="3600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9E8AD6F-1832-479A-9F86-3ABA652871A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3068" y="828129"/>
            <a:ext cx="9840232" cy="590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030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285EDB-4D60-6747-6327-B0A867A2C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90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/>
                <a:cs typeface="Times New Roman"/>
              </a:rPr>
              <a:t>Диаграмма</a:t>
            </a:r>
            <a:r>
              <a:rPr lang="ru-RU" sz="3600" spc="-25" dirty="0">
                <a:latin typeface="Times New Roman"/>
                <a:cs typeface="Times New Roman"/>
              </a:rPr>
              <a:t> </a:t>
            </a:r>
            <a:r>
              <a:rPr lang="ru-RU" sz="3600" dirty="0">
                <a:latin typeface="Times New Roman"/>
                <a:cs typeface="Times New Roman"/>
              </a:rPr>
              <a:t>классов</a:t>
            </a:r>
            <a:br>
              <a:rPr lang="en-US" sz="3600" dirty="0">
                <a:latin typeface="Times New Roman"/>
                <a:cs typeface="Times New Roman"/>
              </a:rPr>
            </a:br>
            <a:endParaRPr lang="ru-RU" sz="3600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FD4DEF4-F461-47DC-A9D7-0C6BAAAF18D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7174" y="885824"/>
            <a:ext cx="8738876" cy="581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82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22B391-B47A-29AB-565A-1E7BC9553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83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/>
                <a:cs typeface="Times New Roman"/>
              </a:rPr>
              <a:t>Концептуальная модель данных</a:t>
            </a:r>
            <a:br>
              <a:rPr lang="ru-RU" dirty="0">
                <a:latin typeface="Times New Roman"/>
                <a:cs typeface="Times New Roman"/>
              </a:rPr>
            </a:b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E352C3A-881B-46C4-8164-1B9A795BF18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53386"/>
            <a:ext cx="10515599" cy="546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520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2634992-2224-9F18-05F6-970E8514C1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199" y="396985"/>
            <a:ext cx="10515600" cy="5681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</a:lstStyle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ru-RU" sz="3600" dirty="0">
                <a:latin typeface="Times New Roman"/>
                <a:cs typeface="Times New Roman"/>
              </a:rPr>
              <a:t>Логическая модель данных</a:t>
            </a:r>
            <a:endParaRPr sz="3600" dirty="0">
              <a:latin typeface="Times New Roman"/>
              <a:cs typeface="Times New Roman"/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F171C17-863E-47C3-AD8C-F1463B7E54C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8330" y="965089"/>
            <a:ext cx="8789620" cy="571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106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0033B-0918-69FD-A3CF-0F3A181A1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372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База данных</a:t>
            </a:r>
            <a:br>
              <a:rPr lang="ru-RU" dirty="0"/>
            </a:b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9A335499-D07E-4FED-AAD8-BA867B8136D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643" y="1242173"/>
            <a:ext cx="8772713" cy="51840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9075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0CC00-E70E-7569-3CAC-7034DFDF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 на получение списка всех клиентов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8B7CDE8-B48B-444E-8525-5EBAA6FDA56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96269"/>
            <a:ext cx="10515600" cy="4210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0904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F328A4-C7B2-2CAA-2901-16EA84810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 на выборку всех товаров и их цен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F9404EF-B6F0-4099-9A39-960C352B98B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856" y="1825625"/>
            <a:ext cx="8776288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7083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FEF1B-9C21-40F9-B4EE-CB763060F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06125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 на получение информации о заказах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2D01A12-4E0D-42A4-8C3B-EEE668C202E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16824"/>
            <a:ext cx="10515600" cy="37689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5341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004FF9-2050-4998-9052-AA863208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 на просмотр списка поставщиков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68F285E-8F6C-4A24-A718-215D0BF5F97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96269"/>
            <a:ext cx="10515600" cy="4210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69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88D84A-0DD6-4B03-BB26-2B7CEB364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Запросы на добавление новых данных (клиенты и товары) </a:t>
            </a:r>
            <a:endParaRPr lang="ru-RU" sz="32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8B4C536-A4AF-47C6-81E3-D941567B6AA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1871663"/>
            <a:ext cx="11077575" cy="1243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F033E85-AD3E-4B8D-ABCF-50733B1579A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3567113"/>
            <a:ext cx="11077574" cy="12430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0282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83408-4FC2-4CFE-A181-370A0A94E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 (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бот)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84D65A6-E43B-4707-8371-FF9F4DA2E35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6" y="1519230"/>
            <a:ext cx="2208852" cy="4802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8F2DF9-551D-4B5D-8F49-05CD4D7CF70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666" y="1519229"/>
            <a:ext cx="2333625" cy="4802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8431561-6F8A-4577-A5E1-8DD439D32B2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929" y="1519232"/>
            <a:ext cx="2432682" cy="4802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4858293-876B-46AB-84F3-35A2BCE3AF26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1118" y="1519232"/>
            <a:ext cx="2432682" cy="48021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9674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3490E-E7DC-5EFA-6900-5F6BDD51C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200" b="1" spc="-10" dirty="0">
                <a:latin typeface="Times New Roman"/>
                <a:cs typeface="Times New Roman"/>
              </a:rPr>
              <a:t>ЗАКЛЮЧЕНИЕ</a:t>
            </a:r>
            <a:br>
              <a:rPr lang="ru-RU" dirty="0">
                <a:latin typeface="Times New Roman"/>
                <a:cs typeface="Times New Roman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63CCB1-B384-FEE9-0E8F-9008A3107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177925"/>
            <a:ext cx="11115675" cy="5518150"/>
          </a:xfrm>
        </p:spPr>
        <p:txBody>
          <a:bodyPr>
            <a:noAutofit/>
          </a:bodyPr>
          <a:lstStyle/>
          <a:p>
            <a:pPr inden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ходе выполнения курсового проекта была успешно спроектирована и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программно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реализована информационная система для автоматизации взаимодействия с поставщиками на базе чат-бота в мессенджере Telegram. Основной целью работы являлось создание мобильного и эффективного инструмента, позволяющего оптимизировать ключевые бизнес-процессы снабжения: выбор контрагента, формирование заявок на товары, верификацию заказов и мониторинг логистических статусов в режиме реального времени.</a:t>
            </a:r>
          </a:p>
          <a:p>
            <a:pPr indent="0" algn="just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процессе работы над проектом были учтены ключевые потребности персонала, что позволяет клиентам воспользоваться преимуществами информационных технологий. </a:t>
            </a:r>
          </a:p>
          <a:p>
            <a:pPr indent="0" algn="just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Полученные результаты подтверждают, что спроектированная информационная система способствует автоматизации доступа к информации, обеспечивая удобство и доступность для пользователей. </a:t>
            </a:r>
          </a:p>
          <a:p>
            <a:pPr indent="0" algn="just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Все поставленные задачи были успешно выполнены. Проведен анализ предметной области, который позволил глубже понять особенности и потребности целевой аудитории. Также был осуществлен анализ конкурентов, в ходе которого изучены основные преимущества и недостатки существующих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инфорационных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систем.</a:t>
            </a:r>
          </a:p>
          <a:p>
            <a:pPr inden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UML-диаграммы были разработаны для лучшего понимания структуры системы, что способствовало визуализации базы данных и взаимодействия между ее компонентами.</a:t>
            </a:r>
          </a:p>
          <a:p>
            <a:pPr indent="0" algn="just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Все компоненты проекта полностью соответствуют требованиям технического задания. Разработанный интерфейс Telegram-бота является интуитивно понятным, не требует специальной подготовки персонала и обеспечивает прозрачное взаимодействие между всеми участниками процесса снабжения.</a:t>
            </a:r>
          </a:p>
          <a:p>
            <a:pPr indent="0">
              <a:lnSpc>
                <a:spcPct val="150000"/>
              </a:lnSpc>
              <a:spcAft>
                <a:spcPts val="800"/>
              </a:spcAft>
              <a:buNone/>
            </a:pP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202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561</Words>
  <Application>Microsoft Office PowerPoint</Application>
  <PresentationFormat>Широкоэкранный</PresentationFormat>
  <Paragraphs>42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Тема Office</vt:lpstr>
      <vt:lpstr>ДЕПАРТАМЕНТ ОБРАЗОВАНИЯ И НАУКИ ТЮМЕНСКОЙ ОБЛАСТИ Государственное автономное профессиональное учреждение Тюменской области «ТЮМЕНСКИЙ ТЕХНИКУМ СТРОИТЕЛЬНОЙ ИНДУСТРИИ И ГОРОДСКОГО ХОЗЯЙСТВА» </vt:lpstr>
      <vt:lpstr>ОПИСАНИЕ ПРЕДМЕТНОЙ ОБЛАСТИ </vt:lpstr>
      <vt:lpstr>Цель курсового проекта – проектирование информационной системы «Поставщики», которая обеспечит автоматизацию процессов взаимодействия с контрагентами, систематизирует складской учет и повысит точность аналитических данных на предприятии. </vt:lpstr>
      <vt:lpstr>Диаграмма IDEF0</vt:lpstr>
      <vt:lpstr>Диаграмма IDEF0 декомпозиция  </vt:lpstr>
      <vt:lpstr>Диаграмма DFD контекстная</vt:lpstr>
      <vt:lpstr>Декомпозиция диаграммы DFD </vt:lpstr>
      <vt:lpstr> диаграмма вариантов использования </vt:lpstr>
      <vt:lpstr>Диаграмма деятельности </vt:lpstr>
      <vt:lpstr>Диаграмма последовательности</vt:lpstr>
      <vt:lpstr>Диаграмма классов </vt:lpstr>
      <vt:lpstr>Концептуальная модель данных </vt:lpstr>
      <vt:lpstr>Логическая модель данных</vt:lpstr>
      <vt:lpstr>База данных </vt:lpstr>
      <vt:lpstr>Запрос на получение списка всех клиентов</vt:lpstr>
      <vt:lpstr>Запрос на выборку всех товаров и их цен</vt:lpstr>
      <vt:lpstr>Запрос на получение информации о заказах</vt:lpstr>
      <vt:lpstr>Запрос на просмотр списка поставщиков</vt:lpstr>
      <vt:lpstr>Запросы на добавление новых данных (клиенты и товары) </vt:lpstr>
      <vt:lpstr>Пользовательский интерфейс (telegram бот)</vt:lpstr>
      <vt:lpstr>ЗАКЛЮЧЕНИЕ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ДЕПАРТАМЕНТ ОБРАЗОВАНИЯ И НАУКИ ТЮМЕНСКОЙ ОБЛАСТИ Государственное автономное профессиональное учреждение Тюменской области «ТЮМЕНСКИЙ ТЕХНИКУМ СТРОИТЕЛЬНОЙ ИНДУСТРИИ И ГОРОДСКОГО ХОЗЯЙСТВА»</dc:title>
  <dc:creator>бамблби венгалби</dc:creator>
  <cp:lastModifiedBy>luchpickon@outlook.com</cp:lastModifiedBy>
  <cp:revision>11</cp:revision>
  <dcterms:created xsi:type="dcterms:W3CDTF">2026-05-06T15:41:25Z</dcterms:created>
  <dcterms:modified xsi:type="dcterms:W3CDTF">2026-05-11T18:10:46Z</dcterms:modified>
</cp:coreProperties>
</file>